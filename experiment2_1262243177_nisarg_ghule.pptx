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sarg Ghule" userId="c9128738c4e831f7" providerId="LiveId" clId="{0B733C8D-E91E-4AD4-B09C-8D9F080D0C06}"/>
    <pc:docChg chg="modSld">
      <pc:chgData name="Nisarg Ghule" userId="c9128738c4e831f7" providerId="LiveId" clId="{0B733C8D-E91E-4AD4-B09C-8D9F080D0C06}" dt="2026-08-08T09:15:31.140" v="25" actId="20577"/>
      <pc:docMkLst>
        <pc:docMk/>
      </pc:docMkLst>
      <pc:sldChg chg="modSp mod">
        <pc:chgData name="Nisarg Ghule" userId="c9128738c4e831f7" providerId="LiveId" clId="{0B733C8D-E91E-4AD4-B09C-8D9F080D0C06}" dt="2026-08-08T09:15:31.140" v="25" actId="20577"/>
        <pc:sldMkLst>
          <pc:docMk/>
          <pc:sldMk cId="0" sldId="256"/>
        </pc:sldMkLst>
        <pc:spChg chg="mod">
          <ac:chgData name="Nisarg Ghule" userId="c9128738c4e831f7" providerId="LiveId" clId="{0B733C8D-E91E-4AD4-B09C-8D9F080D0C06}" dt="2026-08-08T09:15:31.140" v="25" actId="20577"/>
          <ac:spMkLst>
            <pc:docMk/>
            <pc:sldMk cId="0" sldId="256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5111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Empathy Map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5501488" cy="2423160"/>
          </a:xfrm>
          <a:prstGeom prst="roundRect">
            <a:avLst>
              <a:gd name="adj" fmla="val 3019"/>
            </a:avLst>
          </a:prstGeom>
          <a:solidFill>
            <a:srgbClr val="F3F5F8"/>
          </a:solidFill>
          <a:ln w="9525">
            <a:solidFill>
              <a:srgbClr val="D7DEE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89888"/>
            <a:ext cx="495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4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783080"/>
            <a:ext cx="495284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want to finish my banking tasks safely.”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need to know immediately if my payment went through.”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should not have to search through five menus to find a basic service.”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“If something goes wrong, I need someone to help me quickly.”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233008" y="1188720"/>
            <a:ext cx="5501488" cy="2423160"/>
          </a:xfrm>
          <a:prstGeom prst="roundRect">
            <a:avLst>
              <a:gd name="adj" fmla="val 3019"/>
            </a:avLst>
          </a:prstGeom>
          <a:solidFill>
            <a:srgbClr val="F3F5F8"/>
          </a:solidFill>
          <a:ln w="9525">
            <a:solidFill>
              <a:srgbClr val="D7DE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07328" y="1389888"/>
            <a:ext cx="495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507328" y="1783080"/>
            <a:ext cx="495284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“Is my money safe?”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“Did the transaction actually go through?”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“Why is this simple task so complicated?”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do I do if the app doesn't work?”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3886200"/>
            <a:ext cx="5501488" cy="2423160"/>
          </a:xfrm>
          <a:prstGeom prst="roundRect">
            <a:avLst>
              <a:gd name="adj" fmla="val 3019"/>
            </a:avLst>
          </a:prstGeom>
          <a:solidFill>
            <a:srgbClr val="F3F5F8"/>
          </a:solidFill>
          <a:ln w="9525">
            <a:solidFill>
              <a:srgbClr val="D7DE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4087368"/>
            <a:ext cx="495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4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4480560"/>
            <a:ext cx="495284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the balance before and after important transactions.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UPI and mobile banking for everyday payments.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frequently used beneficiaries and services.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Switches to an ATM, branch, or customer support when digital banking fails.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33008" y="3886200"/>
            <a:ext cx="5501488" cy="2423160"/>
          </a:xfrm>
          <a:prstGeom prst="roundRect">
            <a:avLst>
              <a:gd name="adj" fmla="val 3019"/>
            </a:avLst>
          </a:prstGeom>
          <a:solidFill>
            <a:srgbClr val="F3F5F8"/>
          </a:solidFill>
          <a:ln w="9525">
            <a:solidFill>
              <a:srgbClr val="D7DE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07328" y="4087368"/>
            <a:ext cx="49528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07328" y="4480560"/>
            <a:ext cx="495284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 when transactions are completed instantly.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Anxious when payment status is unclear.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Frustrated when important features are difficult to find.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Relieved when problems are resolved quickly.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312768" y="3474720"/>
            <a:ext cx="356616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1E2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12768" y="34747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Representative Banking User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Pain Points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502920" cy="502920"/>
          </a:xfrm>
          <a:prstGeom prst="ellipse">
            <a:avLst/>
          </a:prstGeom>
          <a:solidFill>
            <a:srgbClr val="1E2A4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88720" y="1179576"/>
            <a:ext cx="4632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2B2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Unclear Transaction Status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188720" y="1856232"/>
            <a:ext cx="46328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become anxious when a payment is pending or confirmation is delayed. They often check their balance repeatedly because they are unsure whether to retry the transaction.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3200400"/>
            <a:ext cx="5364328" cy="0"/>
          </a:xfrm>
          <a:prstGeom prst="line">
            <a:avLst/>
          </a:prstGeom>
          <a:noFill/>
          <a:ln w="12700">
            <a:solidFill>
              <a:srgbClr val="D7DEE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70168" y="1234440"/>
            <a:ext cx="502920" cy="502920"/>
          </a:xfrm>
          <a:prstGeom prst="ellipse">
            <a:avLst/>
          </a:prstGeom>
          <a:solidFill>
            <a:srgbClr val="1E2A4A"/>
          </a:solidFill>
          <a:ln/>
        </p:spPr>
      </p:sp>
      <p:sp>
        <p:nvSpPr>
          <p:cNvPr id="9" name="Text 7"/>
          <p:cNvSpPr/>
          <p:nvPr/>
        </p:nvSpPr>
        <p:spPr>
          <a:xfrm>
            <a:off x="6370168" y="1234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101688" y="1179576"/>
            <a:ext cx="4632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2B2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Difficult Navigation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101688" y="1856232"/>
            <a:ext cx="46328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tasks such as finding statements, transferring money, or managing cards can require too many steps. Users expect frequently used services to be easier to locate.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70168" y="3200400"/>
            <a:ext cx="5364328" cy="0"/>
          </a:xfrm>
          <a:prstGeom prst="line">
            <a:avLst/>
          </a:prstGeom>
          <a:noFill/>
          <a:ln w="12700">
            <a:solidFill>
              <a:srgbClr val="D7DEE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977640"/>
            <a:ext cx="502920" cy="502920"/>
          </a:xfrm>
          <a:prstGeom prst="ellipse">
            <a:avLst/>
          </a:prstGeom>
          <a:solidFill>
            <a:srgbClr val="1E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3922776"/>
            <a:ext cx="4632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2B2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Banking Feels Difficult for Some Users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188720" y="4599432"/>
            <a:ext cx="46328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 or less digitally confident customers can struggle with unfamiliar terminology, multi-step processes, and verification requirements.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5943600"/>
            <a:ext cx="5364328" cy="0"/>
          </a:xfrm>
          <a:prstGeom prst="line">
            <a:avLst/>
          </a:prstGeom>
          <a:noFill/>
          <a:ln w="12700">
            <a:solidFill>
              <a:srgbClr val="D7DEE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70168" y="3977640"/>
            <a:ext cx="502920" cy="502920"/>
          </a:xfrm>
          <a:prstGeom prst="ellipse">
            <a:avLst/>
          </a:prstGeom>
          <a:solidFill>
            <a:srgbClr val="1E2A4A"/>
          </a:solidFill>
          <a:ln/>
        </p:spPr>
      </p:sp>
      <p:sp>
        <p:nvSpPr>
          <p:cNvPr id="19" name="Text 17"/>
          <p:cNvSpPr/>
          <p:nvPr/>
        </p:nvSpPr>
        <p:spPr>
          <a:xfrm>
            <a:off x="6370168" y="3977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101688" y="3922776"/>
            <a:ext cx="4632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2B2F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Help Is Not Always Simple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101688" y="4599432"/>
            <a:ext cx="46328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something goes wrong, users may not know whether to contact the bank, visit a branch, or wait for the transaction to resolve. Delayed or unclear support increases frustration.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370168" y="5943600"/>
            <a:ext cx="5364328" cy="0"/>
          </a:xfrm>
          <a:prstGeom prst="line">
            <a:avLst/>
          </a:prstGeom>
          <a:noFill/>
          <a:ln w="12700">
            <a:solidFill>
              <a:srgbClr val="D7DEE7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88720" cy="1188720"/>
          </a:xfrm>
          <a:prstGeom prst="ellipse">
            <a:avLst/>
          </a:prstGeom>
          <a:solidFill>
            <a:srgbClr val="4C6A8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Aarav Sharma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2128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Digital-first student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606040"/>
            <a:ext cx="3200400" cy="1143000"/>
          </a:xfrm>
          <a:prstGeom prst="roundRect">
            <a:avLst>
              <a:gd name="adj" fmla="val 4800"/>
            </a:avLst>
          </a:prstGeom>
          <a:solidFill>
            <a:srgbClr val="F3F5F8"/>
          </a:solidFill>
          <a:ln w="9525">
            <a:solidFill>
              <a:srgbClr val="D7DE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606040"/>
            <a:ext cx="2743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8A6D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"If I'm already doing everything from my phone, paying my college fees shouldn't be complicated."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39776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4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421538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5720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4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480974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Pune, Maharashtra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51663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4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540410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Student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57607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4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USE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599846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mobile banking and UPI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977640" y="457200"/>
            <a:ext cx="310896" cy="310896"/>
          </a:xfrm>
          <a:prstGeom prst="ellipse">
            <a:avLst/>
          </a:prstGeom>
          <a:solidFill>
            <a:srgbClr val="1E2A4A"/>
          </a:solidFill>
          <a:ln/>
        </p:spPr>
      </p:sp>
      <p:sp>
        <p:nvSpPr>
          <p:cNvPr id="17" name="Text 15"/>
          <p:cNvSpPr/>
          <p:nvPr/>
        </p:nvSpPr>
        <p:spPr>
          <a:xfrm>
            <a:off x="4389120" y="420624"/>
            <a:ext cx="32840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977640" y="960120"/>
            <a:ext cx="36955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college fees quickly from his phone.</a:t>
            </a:r>
            <a:endParaRPr lang="en-US" sz="12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money to friends without visiting a branch.</a:t>
            </a:r>
            <a:endParaRPr lang="en-US" sz="12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track of his limited monthly spending.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38948" y="457200"/>
            <a:ext cx="310896" cy="310896"/>
          </a:xfrm>
          <a:prstGeom prst="ellipse">
            <a:avLst/>
          </a:prstGeom>
          <a:solidFill>
            <a:srgbClr val="4C6A8C"/>
          </a:solidFill>
          <a:ln/>
        </p:spPr>
      </p:sp>
      <p:sp>
        <p:nvSpPr>
          <p:cNvPr id="20" name="Text 18"/>
          <p:cNvSpPr/>
          <p:nvPr/>
        </p:nvSpPr>
        <p:spPr>
          <a:xfrm>
            <a:off x="8450428" y="420624"/>
            <a:ext cx="32840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Frustrations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038948" y="960120"/>
            <a:ext cx="36955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failures or delayed confirmations.</a:t>
            </a:r>
            <a:endParaRPr lang="en-US" sz="12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understanding transaction status.</a:t>
            </a:r>
            <a:endParaRPr lang="en-US" sz="12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to search for frequently used services.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977640" y="2697480"/>
            <a:ext cx="7756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this person actually uses the banking platform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3977640" y="3154680"/>
            <a:ext cx="7756855" cy="3246120"/>
          </a:xfrm>
          <a:prstGeom prst="roundRect">
            <a:avLst>
              <a:gd name="adj" fmla="val 1690"/>
            </a:avLst>
          </a:prstGeom>
          <a:solidFill>
            <a:srgbClr val="EDF1F6"/>
          </a:solidFill>
          <a:ln w="9525">
            <a:solidFill>
              <a:srgbClr val="D7DEE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97680" y="3410712"/>
            <a:ext cx="21893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4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297680" y="3721608"/>
            <a:ext cx="218937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Aarav uses UPI several times a day for food, travel, shopping and splitting expenses with friends. He prefers his mobile banking app and rarely visits a branch.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761378" y="3410712"/>
            <a:ext cx="21893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4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FEELINGS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761378" y="3721608"/>
            <a:ext cx="218937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expects banking to be instant and becomes anxious when a payment remains pending, especially when he needs to know whether he should try again.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225077" y="3410712"/>
            <a:ext cx="21893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4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225077" y="3721608"/>
            <a:ext cx="218937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clearer transaction status, immediate confirmation, and quick access to frequently used payments.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88720" cy="1188720"/>
          </a:xfrm>
          <a:prstGeom prst="ellipse">
            <a:avLst/>
          </a:prstGeom>
          <a:solidFill>
            <a:srgbClr val="4C6A8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Rohan Patel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2128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Digitally confident salaried professional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606040"/>
            <a:ext cx="3200400" cy="1143000"/>
          </a:xfrm>
          <a:prstGeom prst="roundRect">
            <a:avLst>
              <a:gd name="adj" fmla="val 4800"/>
            </a:avLst>
          </a:prstGeom>
          <a:solidFill>
            <a:srgbClr val="F3F5F8"/>
          </a:solidFill>
          <a:ln w="9525">
            <a:solidFill>
              <a:srgbClr val="D7DE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606040"/>
            <a:ext cx="2743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8A6D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"I don't mind managing my finances myself, but I want everything in one place."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39776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4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421538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5720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4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480974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Ahmedabad, Gujarat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51663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4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540410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57607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4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USE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599846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Salary account, investments, credit card and UPI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977640" y="457200"/>
            <a:ext cx="310896" cy="310896"/>
          </a:xfrm>
          <a:prstGeom prst="ellipse">
            <a:avLst/>
          </a:prstGeom>
          <a:solidFill>
            <a:srgbClr val="1E2A4A"/>
          </a:solidFill>
          <a:ln/>
        </p:spPr>
      </p:sp>
      <p:sp>
        <p:nvSpPr>
          <p:cNvPr id="17" name="Text 15"/>
          <p:cNvSpPr/>
          <p:nvPr/>
        </p:nvSpPr>
        <p:spPr>
          <a:xfrm>
            <a:off x="4389120" y="420624"/>
            <a:ext cx="32840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977640" y="960120"/>
            <a:ext cx="36955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his salary and monthly bills efficiently.</a:t>
            </a:r>
            <a:endParaRPr lang="en-US" sz="12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investments and savings.</a:t>
            </a:r>
            <a:endParaRPr lang="en-US" sz="12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credit card bills before their due dates.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38948" y="457200"/>
            <a:ext cx="310896" cy="310896"/>
          </a:xfrm>
          <a:prstGeom prst="ellipse">
            <a:avLst/>
          </a:prstGeom>
          <a:solidFill>
            <a:srgbClr val="4C6A8C"/>
          </a:solidFill>
          <a:ln/>
        </p:spPr>
      </p:sp>
      <p:sp>
        <p:nvSpPr>
          <p:cNvPr id="20" name="Text 18"/>
          <p:cNvSpPr/>
          <p:nvPr/>
        </p:nvSpPr>
        <p:spPr>
          <a:xfrm>
            <a:off x="8450428" y="420624"/>
            <a:ext cx="32840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Frustrations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038948" y="960120"/>
            <a:ext cx="36955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information spread across different sections.</a:t>
            </a:r>
            <a:endParaRPr lang="en-US" sz="12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getting a quick overview of his spending.</a:t>
            </a:r>
            <a:endParaRPr lang="en-US" sz="12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steps for routine financial tasks.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977640" y="2697480"/>
            <a:ext cx="7756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this person actually uses the banking platform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3977640" y="3154680"/>
            <a:ext cx="7756855" cy="3246120"/>
          </a:xfrm>
          <a:prstGeom prst="roundRect">
            <a:avLst>
              <a:gd name="adj" fmla="val 1690"/>
            </a:avLst>
          </a:prstGeom>
          <a:solidFill>
            <a:srgbClr val="EDF1F6"/>
          </a:solidFill>
          <a:ln w="9525">
            <a:solidFill>
              <a:srgbClr val="D7DEE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97680" y="3410712"/>
            <a:ext cx="21893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4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297680" y="3721608"/>
            <a:ext cx="218937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Rohan checks his salary account regularly, pays bills digitally, uses his credit card for everyday purchases and moves part of his income into investments.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761378" y="3410712"/>
            <a:ext cx="21893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4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FEELINGS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761378" y="3721608"/>
            <a:ext cx="218937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is comfortable with digital banking but becomes frustrated when the app makes routine financial management unnecessarily time-consuming.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225077" y="3410712"/>
            <a:ext cx="21893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4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225077" y="3721608"/>
            <a:ext cx="218937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unified financial overview showing balances, upcoming payments, spending and investments in one place.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88720" cy="1188720"/>
          </a:xfrm>
          <a:prstGeom prst="ellipse">
            <a:avLst/>
          </a:prstGeom>
          <a:solidFill>
            <a:srgbClr val="4C6A8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Vivek Reddy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2128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Small-business banking user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606040"/>
            <a:ext cx="3200400" cy="1143000"/>
          </a:xfrm>
          <a:prstGeom prst="roundRect">
            <a:avLst>
              <a:gd name="adj" fmla="val 4800"/>
            </a:avLst>
          </a:prstGeom>
          <a:solidFill>
            <a:srgbClr val="F3F5F8"/>
          </a:solidFill>
          <a:ln w="9525">
            <a:solidFill>
              <a:srgbClr val="D7DE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606040"/>
            <a:ext cx="2743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8A6D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"I need to know exactly where the money went. These payments are part of my business."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39776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4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421538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5720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4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480974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Hyderabad, Telangana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51663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4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540410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Business Owner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57607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4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USE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599846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transactions, supplier payments and account statements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977640" y="457200"/>
            <a:ext cx="310896" cy="310896"/>
          </a:xfrm>
          <a:prstGeom prst="ellipse">
            <a:avLst/>
          </a:prstGeom>
          <a:solidFill>
            <a:srgbClr val="1E2A4A"/>
          </a:solidFill>
          <a:ln/>
        </p:spPr>
      </p:sp>
      <p:sp>
        <p:nvSpPr>
          <p:cNvPr id="17" name="Text 15"/>
          <p:cNvSpPr/>
          <p:nvPr/>
        </p:nvSpPr>
        <p:spPr>
          <a:xfrm>
            <a:off x="4389120" y="420624"/>
            <a:ext cx="32840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977640" y="960120"/>
            <a:ext cx="36955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supplier payments accurately.</a:t>
            </a:r>
            <a:endParaRPr lang="en-US" sz="12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clear transaction records.</a:t>
            </a:r>
            <a:endParaRPr lang="en-US" sz="12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account statements when needed.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38948" y="457200"/>
            <a:ext cx="310896" cy="310896"/>
          </a:xfrm>
          <a:prstGeom prst="ellipse">
            <a:avLst/>
          </a:prstGeom>
          <a:solidFill>
            <a:srgbClr val="4C6A8C"/>
          </a:solidFill>
          <a:ln/>
        </p:spPr>
      </p:sp>
      <p:sp>
        <p:nvSpPr>
          <p:cNvPr id="20" name="Text 18"/>
          <p:cNvSpPr/>
          <p:nvPr/>
        </p:nvSpPr>
        <p:spPr>
          <a:xfrm>
            <a:off x="8450428" y="420624"/>
            <a:ext cx="32840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Frustrations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038948" y="960120"/>
            <a:ext cx="36955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finding older transactions.</a:t>
            </a:r>
            <a:endParaRPr lang="en-US" sz="12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Downloading or locating useful statements.</a:t>
            </a:r>
            <a:endParaRPr lang="en-US" sz="12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when large transfers are delayed.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977640" y="2697480"/>
            <a:ext cx="7756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this person actually uses the banking platform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3977640" y="3154680"/>
            <a:ext cx="7756855" cy="3246120"/>
          </a:xfrm>
          <a:prstGeom prst="roundRect">
            <a:avLst>
              <a:gd name="adj" fmla="val 1690"/>
            </a:avLst>
          </a:prstGeom>
          <a:solidFill>
            <a:srgbClr val="EDF1F6"/>
          </a:solidFill>
          <a:ln w="9525">
            <a:solidFill>
              <a:srgbClr val="D7DEE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97680" y="3410712"/>
            <a:ext cx="21893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4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297680" y="3721608"/>
            <a:ext cx="218937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Vivek uses banking mainly for business payments. He regularly transfers money to suppliers and checks transaction records to maintain his business accounts.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761378" y="3410712"/>
            <a:ext cx="21893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4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FEELINGS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761378" y="3721608"/>
            <a:ext cx="218937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is cautious with larger transactions and becomes concerned when payment confirmation or transaction details are unclear.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225077" y="3410712"/>
            <a:ext cx="21893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4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225077" y="3721608"/>
            <a:ext cx="218937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powerful transaction search, clear payment confirmation and easily accessible downloadable statements.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88720" cy="1188720"/>
          </a:xfrm>
          <a:prstGeom prst="ellipse">
            <a:avLst/>
          </a:prstGeom>
          <a:solidFill>
            <a:srgbClr val="4C6A8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Priya Nair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2128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Financially conscious young professional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606040"/>
            <a:ext cx="3200400" cy="1143000"/>
          </a:xfrm>
          <a:prstGeom prst="roundRect">
            <a:avLst>
              <a:gd name="adj" fmla="val 4800"/>
            </a:avLst>
          </a:prstGeom>
          <a:solidFill>
            <a:srgbClr val="F3F5F8"/>
          </a:solidFill>
          <a:ln w="9525">
            <a:solidFill>
              <a:srgbClr val="D7DE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606040"/>
            <a:ext cx="2743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8A6D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"I want to know where my money is going before I spend more."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39776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4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421538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5720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4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480974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Kochi, Kerala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51663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4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540410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Executive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57607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4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USE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599846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Savings, budgeting, online shopping and investments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977640" y="457200"/>
            <a:ext cx="310896" cy="310896"/>
          </a:xfrm>
          <a:prstGeom prst="ellipse">
            <a:avLst/>
          </a:prstGeom>
          <a:solidFill>
            <a:srgbClr val="1E2A4A"/>
          </a:solidFill>
          <a:ln/>
        </p:spPr>
      </p:sp>
      <p:sp>
        <p:nvSpPr>
          <p:cNvPr id="17" name="Text 15"/>
          <p:cNvSpPr/>
          <p:nvPr/>
        </p:nvSpPr>
        <p:spPr>
          <a:xfrm>
            <a:off x="4389120" y="420624"/>
            <a:ext cx="32840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977640" y="960120"/>
            <a:ext cx="36955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monthly spending.</a:t>
            </a:r>
            <a:endParaRPr lang="en-US" sz="12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a regular savings habit.</a:t>
            </a:r>
            <a:endParaRPr lang="en-US" sz="12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online payments securely.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38948" y="457200"/>
            <a:ext cx="310896" cy="310896"/>
          </a:xfrm>
          <a:prstGeom prst="ellipse">
            <a:avLst/>
          </a:prstGeom>
          <a:solidFill>
            <a:srgbClr val="4C6A8C"/>
          </a:solidFill>
          <a:ln/>
        </p:spPr>
      </p:sp>
      <p:sp>
        <p:nvSpPr>
          <p:cNvPr id="20" name="Text 18"/>
          <p:cNvSpPr/>
          <p:nvPr/>
        </p:nvSpPr>
        <p:spPr>
          <a:xfrm>
            <a:off x="8450428" y="420624"/>
            <a:ext cx="32840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Frustrations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038948" y="960120"/>
            <a:ext cx="36955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understanding spending patterns.</a:t>
            </a:r>
            <a:endParaRPr lang="en-US" sz="12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lists that don't help categorize expenses.</a:t>
            </a:r>
            <a:endParaRPr lang="en-US" sz="12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to check multiple places to understand her finances.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977640" y="2697480"/>
            <a:ext cx="7756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this person actually uses the banking platform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3977640" y="3154680"/>
            <a:ext cx="7756855" cy="3246120"/>
          </a:xfrm>
          <a:prstGeom prst="roundRect">
            <a:avLst>
              <a:gd name="adj" fmla="val 1690"/>
            </a:avLst>
          </a:prstGeom>
          <a:solidFill>
            <a:srgbClr val="EDF1F6"/>
          </a:solidFill>
          <a:ln w="9525">
            <a:solidFill>
              <a:srgbClr val="D7DEE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97680" y="3410712"/>
            <a:ext cx="21893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4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297680" y="3721608"/>
            <a:ext cx="218937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 uses mobile banking for shopping payments, transfers money to savings and checks her account before making larger purchases.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761378" y="3410712"/>
            <a:ext cx="21893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4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FEELINGS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761378" y="3721608"/>
            <a:ext cx="218937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feels in control when she can clearly see her spending, but becomes uncertain when transactions are difficult to categorize or understand.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225077" y="3410712"/>
            <a:ext cx="21893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4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225077" y="3721608"/>
            <a:ext cx="218937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simple spending categories, monthly summaries and clearer financial insights without requiring manual tracking.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188720" cy="1188720"/>
          </a:xfrm>
          <a:prstGeom prst="ellipse">
            <a:avLst/>
          </a:prstGeom>
          <a:solidFill>
            <a:srgbClr val="4C6A8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Savitri Devi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2128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Older, assisted digital banking user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606040"/>
            <a:ext cx="3200400" cy="1143000"/>
          </a:xfrm>
          <a:prstGeom prst="roundRect">
            <a:avLst>
              <a:gd name="adj" fmla="val 4800"/>
            </a:avLst>
          </a:prstGeom>
          <a:solidFill>
            <a:srgbClr val="F3F5F8"/>
          </a:solidFill>
          <a:ln w="9525">
            <a:solidFill>
              <a:srgbClr val="D7DE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606040"/>
            <a:ext cx="2743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8A6D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"I can use the phone for simple things, but I don't want to make a mistake with my money."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397764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4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421538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5720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4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480974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Lucknow, Uttar Pradesh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51663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4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540410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Retired Teacher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57607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4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USE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599846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Pension, ATM withdrawals, branch visits and occasional mobile banking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977640" y="457200"/>
            <a:ext cx="310896" cy="310896"/>
          </a:xfrm>
          <a:prstGeom prst="ellipse">
            <a:avLst/>
          </a:prstGeom>
          <a:solidFill>
            <a:srgbClr val="1E2A4A"/>
          </a:solidFill>
          <a:ln/>
        </p:spPr>
      </p:sp>
      <p:sp>
        <p:nvSpPr>
          <p:cNvPr id="17" name="Text 15"/>
          <p:cNvSpPr/>
          <p:nvPr/>
        </p:nvSpPr>
        <p:spPr>
          <a:xfrm>
            <a:off x="4389120" y="420624"/>
            <a:ext cx="32840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977640" y="960120"/>
            <a:ext cx="36955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that her pension has been credited.</a:t>
            </a:r>
            <a:endParaRPr lang="en-US" sz="12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Withdraw cash safely.</a:t>
            </a:r>
            <a:endParaRPr lang="en-US" sz="12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simple banking tasks without confusion.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38948" y="457200"/>
            <a:ext cx="310896" cy="310896"/>
          </a:xfrm>
          <a:prstGeom prst="ellipse">
            <a:avLst/>
          </a:prstGeom>
          <a:solidFill>
            <a:srgbClr val="4C6A8C"/>
          </a:solidFill>
          <a:ln/>
        </p:spPr>
      </p:sp>
      <p:sp>
        <p:nvSpPr>
          <p:cNvPr id="20" name="Text 18"/>
          <p:cNvSpPr/>
          <p:nvPr/>
        </p:nvSpPr>
        <p:spPr>
          <a:xfrm>
            <a:off x="8450428" y="420624"/>
            <a:ext cx="32840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Frustrations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038948" y="960120"/>
            <a:ext cx="369554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or unfamiliar interface elements.</a:t>
            </a:r>
            <a:endParaRPr lang="en-US" sz="12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Confusing terminology and multi-step processes.</a:t>
            </a:r>
            <a:endParaRPr lang="en-US" sz="12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20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knowing where to get help.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977640" y="2697480"/>
            <a:ext cx="7756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this person actually uses the banking platform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3977640" y="3154680"/>
            <a:ext cx="7756855" cy="3246120"/>
          </a:xfrm>
          <a:prstGeom prst="roundRect">
            <a:avLst>
              <a:gd name="adj" fmla="val 1690"/>
            </a:avLst>
          </a:prstGeom>
          <a:solidFill>
            <a:srgbClr val="EDF1F6"/>
          </a:solidFill>
          <a:ln w="9525">
            <a:solidFill>
              <a:srgbClr val="D7DEE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97680" y="3410712"/>
            <a:ext cx="21893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4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297680" y="3721608"/>
            <a:ext cx="218937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Savitri usually checks her pension through her account or ATM and prefers visiting the branch for complicated tasks. She uses mobile banking only for simple activities.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761378" y="3410712"/>
            <a:ext cx="21893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4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FEELINGS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761378" y="3721608"/>
            <a:ext cx="218937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is cautious when using unfamiliar digital features and feels more comfortable when instructions are clear and help is easily available.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225077" y="3410712"/>
            <a:ext cx="21893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4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225077" y="3721608"/>
            <a:ext cx="2189378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B2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a simplified interface, clearer instructions, larger touch targets and easily accessible human assistance.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4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JOURNEY 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Persona: </a:t>
            </a:r>
            <a:r>
              <a:rPr lang="en-US" sz="24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Aarav Sharma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11556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Pay college tuition fees using the banking app.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820095" y="365760"/>
            <a:ext cx="914400" cy="914400"/>
          </a:xfrm>
          <a:prstGeom prst="ellipse">
            <a:avLst/>
          </a:prstGeom>
          <a:solidFill>
            <a:srgbClr val="4C6A8C"/>
          </a:solidFill>
          <a:ln/>
        </p:spPr>
      </p:sp>
      <p:sp>
        <p:nvSpPr>
          <p:cNvPr id="6" name="Text 4"/>
          <p:cNvSpPr/>
          <p:nvPr/>
        </p:nvSpPr>
        <p:spPr>
          <a:xfrm>
            <a:off x="10820095" y="3657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</a:t>
            </a:r>
            <a:endParaRPr lang="en-US" sz="1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11277295" cy="48006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45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45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45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445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445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2001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4C6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Finds the Fee Payment Option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Enters College Details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Confirms Payment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Waits for Confirmation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Saves Receipt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001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4C6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LIST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Opens the banking app.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Searches for fee payment.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Selects the education payment option.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Selects the institution.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Enters his student details.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Checks the displayed fee amount.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Selects his account.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Reviews the amount.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Confirms the transaction.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Waits for the transaction response.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Checks the payment status.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Checks his account balance.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Opens the successful transaction.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Downloads the receipt.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Saves it for college records.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001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4C6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FEELING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i="1" dirty="0">
                          <a:solidFill>
                            <a:srgbClr val="8A6D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Confused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i="1" dirty="0">
                          <a:solidFill>
                            <a:srgbClr val="8A6D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i="1" dirty="0">
                          <a:solidFill>
                            <a:srgbClr val="8A6D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Anxious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i="1" dirty="0">
                          <a:solidFill>
                            <a:srgbClr val="8A6D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Nervous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i="1" dirty="0">
                          <a:solidFill>
                            <a:srgbClr val="8A6D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Relieved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001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4C6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4C6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OPPORTUNITY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Put frequently used payments such as education fees directly on the main payments screen.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saved institution and student details to reduce repeated data entry.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Clearly display the beneficiary, amount and final confirmation before payment.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 clear real-time status instead of leaving the user unsure whether to retry.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 an obvious Download Receipt button immediately after successful payment.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4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JOURNEY 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Persona: </a:t>
            </a:r>
            <a:r>
              <a:rPr lang="en-US" sz="24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Rohan Patel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11556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Manage monthly salary, pay bills and invest surplus money.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820095" y="365760"/>
            <a:ext cx="914400" cy="914400"/>
          </a:xfrm>
          <a:prstGeom prst="ellipse">
            <a:avLst/>
          </a:prstGeom>
          <a:solidFill>
            <a:srgbClr val="4C6A8C"/>
          </a:solidFill>
          <a:ln/>
        </p:spPr>
      </p:sp>
      <p:sp>
        <p:nvSpPr>
          <p:cNvPr id="6" name="Text 4"/>
          <p:cNvSpPr/>
          <p:nvPr/>
        </p:nvSpPr>
        <p:spPr>
          <a:xfrm>
            <a:off x="10820095" y="3657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RP</a:t>
            </a:r>
            <a:endParaRPr lang="en-US" sz="1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11277295" cy="48006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45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45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45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445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445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2001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4C6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Checks Salary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Reviews Upcoming Expenses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Pays Bills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Checks Surplus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001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4C6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LIST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Opens his salary account.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Checks the credited amount.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Reviews his available balance.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Checks upcoming bills.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Reviews credit card due amount.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Estimates remaining disposable income.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Selects the required billers.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Reviews each amount.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Completes the payments.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Reviews monthly spending.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Checks remaining balance.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Decides how much to save or invest.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Opens the investment section.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Selects an investment option.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Transfers the chosen amount.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001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4C6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FEELING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i="1" dirty="0">
                          <a:solidFill>
                            <a:srgbClr val="8A6D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i="1" dirty="0">
                          <a:solidFill>
                            <a:srgbClr val="8A6D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i="1" dirty="0">
                          <a:solidFill>
                            <a:srgbClr val="8A6D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i="1" dirty="0">
                          <a:solidFill>
                            <a:srgbClr val="8A6D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Analytical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i="1" dirty="0">
                          <a:solidFill>
                            <a:srgbClr val="8A6D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Assured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001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4C6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4C6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OPPORTUNITY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 salary credit and current available balance prominently on the home screen.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 a single view of upcoming bills and payment deadlines.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 recurring bills to be grouped and paid from one streamlined screen.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 a simple monthly spending and savings summary.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 available surplus with simple investment recommendations and transparent information.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4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JOURNEY 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Persona: </a:t>
            </a:r>
            <a:r>
              <a:rPr lang="en-US" sz="24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Vivek Reddy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11556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Pay suppliers and obtain business account statements.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820095" y="365760"/>
            <a:ext cx="914400" cy="914400"/>
          </a:xfrm>
          <a:prstGeom prst="ellipse">
            <a:avLst/>
          </a:prstGeom>
          <a:solidFill>
            <a:srgbClr val="4C6A8C"/>
          </a:solidFill>
          <a:ln/>
        </p:spPr>
      </p:sp>
      <p:sp>
        <p:nvSpPr>
          <p:cNvPr id="6" name="Text 4"/>
          <p:cNvSpPr/>
          <p:nvPr/>
        </p:nvSpPr>
        <p:spPr>
          <a:xfrm>
            <a:off x="10820095" y="3657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VR</a:t>
            </a:r>
            <a:endParaRPr lang="en-US" sz="1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11277295" cy="48006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45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45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45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445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445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2001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4C6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Reviews Account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Finds Supplier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Makes Payment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Confirms Transaction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Downloads Statement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001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4C6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LIST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Opens the business account.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Checks the available balance.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Reviews recent transactions.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Opens the transfer section.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Searches saved beneficiaries.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Selects the required supplier.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Enters the payment amount.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Reviews supplier details.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Authorizes the transfer.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Checks the transaction status.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Verifies the reference number.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Confirms the supplier payment.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Opens transaction history.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Selects the required date range.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Downloads the statement.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001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4C6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FEELING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i="1" dirty="0">
                          <a:solidFill>
                            <a:srgbClr val="8A6D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Cautious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i="1" dirty="0">
                          <a:solidFill>
                            <a:srgbClr val="8A6D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i="1" dirty="0">
                          <a:solidFill>
                            <a:srgbClr val="8A6D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Careful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i="1" dirty="0">
                          <a:solidFill>
                            <a:srgbClr val="8A6D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Relieved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i="1" dirty="0">
                          <a:solidFill>
                            <a:srgbClr val="8A6D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Satisfied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001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4C6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4C6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OPPORTUNITY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 a business-focused dashboard with balance and recent transactions immediately visible.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 faster beneficiary search with clear names and account details.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 a clear final verification screen for high-value business transfers.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Display transaction status and reference information prominently after payment.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quick date filters and a clearly visible statement download option.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4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JOURNEY 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Persona: </a:t>
            </a:r>
            <a:r>
              <a:rPr lang="en-US" sz="24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Priya Nair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11556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Track expenses, manage savings and make an online shopping payment.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820095" y="365760"/>
            <a:ext cx="914400" cy="914400"/>
          </a:xfrm>
          <a:prstGeom prst="ellipse">
            <a:avLst/>
          </a:prstGeom>
          <a:solidFill>
            <a:srgbClr val="4C6A8C"/>
          </a:solidFill>
          <a:ln/>
        </p:spPr>
      </p:sp>
      <p:sp>
        <p:nvSpPr>
          <p:cNvPr id="6" name="Text 4"/>
          <p:cNvSpPr/>
          <p:nvPr/>
        </p:nvSpPr>
        <p:spPr>
          <a:xfrm>
            <a:off x="10820095" y="3657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PN</a:t>
            </a:r>
            <a:endParaRPr lang="en-US" sz="1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11277295" cy="48006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45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45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45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445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445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2001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4C6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Reviews Spending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Categorizes Expenses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Moves Money to Savings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Makes Online Payment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Reviews Result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001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4C6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LIST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Opens her banking app.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Checks recent transactions.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Reviews her remaining balance.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Reviews recent purchases.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Identifies major spending categories.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Checks where she is spending most.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Checks her available balance.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Chooses a savings amount.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Transfers it to savings.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Selects her payment method.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Confirms the purchase amount.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Authorizes the transaction.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Checks the transaction status.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Verifies the deducted amount.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Reviews the updated balance.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001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4C6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FEELING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i="1" dirty="0">
                          <a:solidFill>
                            <a:srgbClr val="8A6D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Curious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i="1" dirty="0">
                          <a:solidFill>
                            <a:srgbClr val="8A6D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Concerned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i="1" dirty="0">
                          <a:solidFill>
                            <a:srgbClr val="8A6D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Motivated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i="1" dirty="0">
                          <a:solidFill>
                            <a:srgbClr val="8A6D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Cautious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i="1" dirty="0">
                          <a:solidFill>
                            <a:srgbClr val="8A6D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Reassured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001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4C6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4C6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OPPORTUNITY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 a simple visual monthly spending summary on the home screen.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Automatically categorize transactions with the option to correct categories.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Make transfers between personal accounts quick and easy to repeat.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 a clear merchant name and payment amount before authorization.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 an immediate confirmation with merchant, amount and updated balance.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4C6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JOURNEY 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Persona: </a:t>
            </a:r>
            <a:r>
              <a:rPr lang="en-US" sz="2400" b="1" dirty="0">
                <a:solidFill>
                  <a:srgbClr val="1E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Savitri Devi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11556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Check pension credit, withdraw money and get help when needed.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820095" y="365760"/>
            <a:ext cx="914400" cy="914400"/>
          </a:xfrm>
          <a:prstGeom prst="ellipse">
            <a:avLst/>
          </a:prstGeom>
          <a:solidFill>
            <a:srgbClr val="4C6A8C"/>
          </a:solidFill>
          <a:ln/>
        </p:spPr>
      </p:sp>
      <p:sp>
        <p:nvSpPr>
          <p:cNvPr id="6" name="Text 4"/>
          <p:cNvSpPr/>
          <p:nvPr/>
        </p:nvSpPr>
        <p:spPr>
          <a:xfrm>
            <a:off x="10820095" y="3657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SD</a:t>
            </a:r>
            <a:endParaRPr lang="en-US" sz="1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11277295" cy="48006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45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45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45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445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445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2001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4C6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Checks Pension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Decides to Withdraw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Makes Withdrawal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Checks Transaction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Seeks Assistance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001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4C6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 LIST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Checks whether the pension was credited.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Opens her account information.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Looks for the latest transaction.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Checks the available balance.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Goes to an ATM.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Inserts her debit card.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Enters her PIN.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Selects the withdrawal amount.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Collects cash and receipt.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Reviews the receipt.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Checks the remaining balance.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Confirms the withdrawal was successful.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Tries to resolve an unfamiliar issue.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Looks for customer support.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Contacts the bank or visits a branch.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001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4C6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FEELING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i="1" dirty="0">
                          <a:solidFill>
                            <a:srgbClr val="8A6D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Uncertain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i="1" dirty="0">
                          <a:solidFill>
                            <a:srgbClr val="8A6D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Cautious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i="1" dirty="0">
                          <a:solidFill>
                            <a:srgbClr val="8A6D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Nervous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i="1" dirty="0">
                          <a:solidFill>
                            <a:srgbClr val="8A6D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Relieved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i="1" dirty="0">
                          <a:solidFill>
                            <a:srgbClr val="8A6D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Frustrated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001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4C6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4C6A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OPPORTUNITY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Clearly highlight recurring pension credits and their dates.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 simple ATM instructions with clear, familiar language.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larger interface elements and clearer confirmation messages throughout the ATM process.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Make the transaction amount and remaining balance immediately visible.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B2F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 a prominent Help option with direct access to human assistance and branch information.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76200" marT="127000" marB="76200">
                    <a:lnL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2009</Words>
  <Application>Microsoft Office PowerPoint</Application>
  <PresentationFormat>Widescreen</PresentationFormat>
  <Paragraphs>377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Nisarg Ghule</cp:lastModifiedBy>
  <cp:revision>1</cp:revision>
  <dcterms:created xsi:type="dcterms:W3CDTF">2026-08-08T06:22:27Z</dcterms:created>
  <dcterms:modified xsi:type="dcterms:W3CDTF">2026-08-08T09:16:25Z</dcterms:modified>
</cp:coreProperties>
</file>